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7"/>
  </p:handoutMasterIdLst>
  <p:sldIdLst>
    <p:sldId id="256" r:id="rId3"/>
    <p:sldId id="257" r:id="rId5"/>
    <p:sldId id="269" r:id="rId6"/>
    <p:sldId id="270" r:id="rId7"/>
    <p:sldId id="271" r:id="rId8"/>
    <p:sldId id="272" r:id="rId9"/>
    <p:sldId id="273" r:id="rId10"/>
    <p:sldId id="274" r:id="rId11"/>
    <p:sldId id="275" r:id="rId12"/>
    <p:sldId id="278" r:id="rId13"/>
    <p:sldId id="276" r:id="rId14"/>
    <p:sldId id="277" r:id="rId15"/>
    <p:sldId id="268" r:id="rId16"/>
  </p:sldIdLst>
  <p:sldSz cx="9144000" cy="6858000" type="screen4x3"/>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0" d="100"/>
          <a:sy n="90" d="100"/>
        </p:scale>
        <p:origin x="1234" y="53"/>
      </p:cViewPr>
      <p:guideLst>
        <p:guide orient="horz" pos="2160"/>
        <p:guide pos="288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customXml" Target="../customXml/item3.xml"/><Relationship Id="rId22" Type="http://schemas.openxmlformats.org/officeDocument/2006/relationships/customXml" Target="../customXml/item2.xml"/><Relationship Id="rId21" Type="http://schemas.openxmlformats.org/officeDocument/2006/relationships/customXml" Target="../customXml/item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fld>
            <a:endParaRPr lang="en-US"/>
          </a:p>
        </p:txBody>
      </p:sp>
      <p:sp>
        <p:nvSpPr>
          <p:cNvPr id="5" name="Footer Placeholder 4"/>
          <p:cNvSpPr>
            <a:spLocks noGrp="1"/>
          </p:cNvSpPr>
          <p:nvPr>
            <p:ph type="ftr" sz="quarter" idx="4"/>
          </p:nvPr>
        </p:nvSpPr>
        <p:spPr/>
        <p:txBody>
          <a:bodyPr/>
          <a:lstStyle/>
          <a:p>
            <a:r>
              <a:rPr lang="en-US"/>
              <a:t>Name of the faculty [Group: G00] [Sem:2nd]</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3"/>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4"/>
          <a:stretch>
            <a:fillRect/>
          </a:stretch>
        </p:blipFill>
        <p:spPr>
          <a:xfrm>
            <a:off x="6553080" y="228600"/>
            <a:ext cx="1920600" cy="609120"/>
          </a:xfrm>
          <a:prstGeom prst="rect">
            <a:avLst/>
          </a:prstGeom>
          <a:ln w="9360">
            <a:noFill/>
          </a:ln>
        </p:spPr>
      </p:pic>
      <p:pic>
        <p:nvPicPr>
          <p:cNvPr id="9"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4"/>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panose="020F0502020204030204"/>
                <a:ea typeface="MS PGothic" panose="020B0600070205080204" charset="-128"/>
              </a:rPr>
              <a:t>Click to edit Master title style</a:t>
            </a:r>
            <a:endParaRPr lang="en-US" sz="3000" b="0" strike="noStrike" spc="-1">
              <a:solidFill>
                <a:srgbClr val="000000"/>
              </a:solidFill>
              <a:latin typeface="Arial" panose="020B060402020202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20204"/>
              <a:buChar char="•"/>
            </a:pPr>
            <a:r>
              <a:rPr lang="en-US" sz="3200" b="0" strike="noStrike" spc="-1">
                <a:solidFill>
                  <a:srgbClr val="000000"/>
                </a:solidFill>
                <a:latin typeface="Calibri" panose="020F0502020204030204"/>
                <a:ea typeface="MS PGothic" panose="020B0600070205080204" charset="-128"/>
              </a:rPr>
              <a:t>Click to edit Master text styles</a:t>
            </a:r>
            <a:endParaRPr lang="en-US" sz="3200" b="0" strike="noStrike" spc="-1">
              <a:solidFill>
                <a:srgbClr val="000000"/>
              </a:solidFill>
              <a:latin typeface="Calibri" panose="020F0502020204030204"/>
            </a:endParaRPr>
          </a:p>
          <a:p>
            <a:pPr marL="742950" lvl="1" indent="-285750">
              <a:lnSpc>
                <a:spcPct val="100000"/>
              </a:lnSpc>
              <a:spcBef>
                <a:spcPts val="560"/>
              </a:spcBef>
              <a:buClr>
                <a:srgbClr val="000000"/>
              </a:buClr>
              <a:buFont typeface="Arial" panose="020B0604020202020204"/>
              <a:buChar char="–"/>
            </a:pPr>
            <a:r>
              <a:rPr lang="en-US" sz="2800" b="0" strike="noStrike" spc="-1">
                <a:solidFill>
                  <a:srgbClr val="000000"/>
                </a:solidFill>
                <a:latin typeface="Calibri" panose="020F0502020204030204"/>
                <a:ea typeface="MS PGothic" panose="020B0600070205080204" charset="-128"/>
              </a:rPr>
              <a:t>Second level</a:t>
            </a:r>
            <a:endParaRPr lang="en-US" sz="2800" b="0" strike="noStrike" spc="-1">
              <a:solidFill>
                <a:srgbClr val="000000"/>
              </a:solidFill>
              <a:latin typeface="Calibri" panose="020F0502020204030204"/>
            </a:endParaRPr>
          </a:p>
          <a:p>
            <a:pPr marL="1143000" lvl="2" indent="-227965">
              <a:lnSpc>
                <a:spcPct val="100000"/>
              </a:lnSpc>
              <a:spcBef>
                <a:spcPts val="480"/>
              </a:spcBef>
              <a:buClr>
                <a:srgbClr val="000000"/>
              </a:buClr>
              <a:buFont typeface="Arial" panose="020B0604020202020204"/>
              <a:buChar char="•"/>
            </a:pPr>
            <a:r>
              <a:rPr lang="en-US" sz="2400" b="0" strike="noStrike" spc="-1">
                <a:solidFill>
                  <a:srgbClr val="000000"/>
                </a:solidFill>
                <a:latin typeface="Calibri" panose="020F0502020204030204"/>
                <a:ea typeface="MS PGothic" panose="020B0600070205080204" charset="-128"/>
              </a:rPr>
              <a:t>Third level</a:t>
            </a:r>
            <a:endParaRPr lang="en-US" sz="2400" b="0" strike="noStrike" spc="-1">
              <a:solidFill>
                <a:srgbClr val="000000"/>
              </a:solidFill>
              <a:latin typeface="Calibri" panose="020F0502020204030204"/>
            </a:endParaRPr>
          </a:p>
          <a:p>
            <a:pPr marL="1600200" lvl="3" indent="-227965">
              <a:lnSpc>
                <a:spcPct val="100000"/>
              </a:lnSpc>
              <a:spcBef>
                <a:spcPts val="400"/>
              </a:spcBef>
              <a:buClr>
                <a:srgbClr val="000000"/>
              </a:buClr>
              <a:buFont typeface="Arial" panose="020B0604020202020204"/>
              <a:buChar char="–"/>
            </a:pPr>
            <a:r>
              <a:rPr lang="en-US" sz="2000" b="0" strike="noStrike" spc="-1">
                <a:solidFill>
                  <a:srgbClr val="000000"/>
                </a:solidFill>
                <a:latin typeface="Calibri" panose="020F0502020204030204"/>
                <a:ea typeface="MS PGothic" panose="020B0600070205080204" charset="-128"/>
              </a:rPr>
              <a:t>Fourth level</a:t>
            </a:r>
            <a:endParaRPr lang="en-US" sz="2000" b="0" strike="noStrike" spc="-1">
              <a:solidFill>
                <a:srgbClr val="000000"/>
              </a:solidFill>
              <a:latin typeface="Calibri" panose="020F0502020204030204"/>
            </a:endParaRPr>
          </a:p>
          <a:p>
            <a:pPr marL="2057400" lvl="4" indent="-227965">
              <a:lnSpc>
                <a:spcPct val="100000"/>
              </a:lnSpc>
              <a:spcBef>
                <a:spcPts val="400"/>
              </a:spcBef>
              <a:buClr>
                <a:srgbClr val="000000"/>
              </a:buClr>
              <a:buFont typeface="Arial" panose="020B0604020202020204"/>
              <a:buChar char="»"/>
            </a:pPr>
            <a:r>
              <a:rPr lang="en-US" sz="2000" b="0" strike="noStrike" spc="-1">
                <a:solidFill>
                  <a:srgbClr val="000000"/>
                </a:solidFill>
                <a:latin typeface="Calibri" panose="020F0502020204030204"/>
                <a:ea typeface="MS PGothic" panose="020B0600070205080204" charset="-128"/>
              </a:rPr>
              <a:t>Fifth level</a:t>
            </a:r>
            <a:endParaRPr lang="en-US" sz="2000" b="0" strike="noStrike" spc="-1">
              <a:solidFill>
                <a:srgbClr val="000000"/>
              </a:solidFill>
              <a:latin typeface="Calibri" panose="020F0502020204030204"/>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60305040502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603050405020304"/>
              </a:rPr>
              <a:t>Name</a:t>
            </a:r>
            <a:endParaRPr lang="en-GB" sz="2400" b="0" strike="noStrike" spc="-1">
              <a:latin typeface="Times New Roman" panose="02020603050405020304"/>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hyperlink" Target="mailto:avinash1414.be22@chitkara.edu.in" TargetMode="External"/><Relationship Id="rId1" Type="http://schemas.openxmlformats.org/officeDocument/2006/relationships/hyperlink" Target="mailto:arnav1348.be22@chitkara.edu.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169684" y="905658"/>
            <a:ext cx="9671901" cy="6474570"/>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Research Paper Presentation</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3200" b="1" dirty="0">
                <a:latin typeface="Times New Roman" panose="02020603050405020304" pitchFamily="18" charset="0"/>
                <a:cs typeface="Times New Roman" panose="02020603050405020304" pitchFamily="18" charset="0"/>
              </a:rPr>
              <a:t> My Colony: Design and Evaluation of a</a:t>
            </a:r>
            <a:endParaRPr lang="en-US" sz="3200" b="1" dirty="0">
              <a:latin typeface="Times New Roman" panose="02020603050405020304" pitchFamily="18" charset="0"/>
              <a:cs typeface="Times New Roman" panose="02020603050405020304" pitchFamily="18" charset="0"/>
            </a:endParaRPr>
          </a:p>
          <a:p>
            <a:pPr algn="ctr"/>
            <a:r>
              <a:rPr lang="en-US" sz="3200" b="1" dirty="0">
                <a:latin typeface="Times New Roman" panose="02020603050405020304" pitchFamily="18" charset="0"/>
                <a:cs typeface="Times New Roman" panose="02020603050405020304" pitchFamily="18" charset="0"/>
              </a:rPr>
              <a:t> Colony-Based Digital Services Platform</a:t>
            </a:r>
            <a:endParaRPr lang="en-US" sz="3200" b="1" dirty="0">
              <a:latin typeface="Times New Roman" panose="02020603050405020304" pitchFamily="18" charset="0"/>
              <a:cs typeface="Times New Roman" panose="02020603050405020304" pitchFamily="18" charset="0"/>
            </a:endParaRPr>
          </a:p>
          <a:p>
            <a:pPr algn="ctr"/>
            <a:endParaRPr lang="en-IN" sz="3200" dirty="0">
              <a:latin typeface="Times New Roman" panose="02020603050405020304" pitchFamily="18" charset="0"/>
              <a:cs typeface="Times New Roman" panose="02020603050405020304" pitchFamily="18" charset="0"/>
            </a:endParaRPr>
          </a:p>
          <a:p>
            <a:pPr algn="ctr"/>
            <a:b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Harshit Satija</a:t>
            </a:r>
            <a:r>
              <a:rPr lang="en-US" dirty="0"/>
              <a:t>-</a:t>
            </a:r>
            <a:r>
              <a:rPr lang="en-US" dirty="0">
                <a:hlinkClick r:id="rId1"/>
              </a:rPr>
              <a:t> </a:t>
            </a:r>
            <a:r>
              <a:rPr lang="en-US" u="sng" dirty="0">
                <a:hlinkClick r:id="rId1"/>
              </a:rPr>
              <a:t>harshit1633.be22@chitkara.edu.in</a:t>
            </a:r>
            <a:endParaRPr lang="en-IN" dirty="0"/>
          </a:p>
          <a:p>
            <a:pPr algn="ctr"/>
            <a:r>
              <a:rPr lang="en-US" dirty="0"/>
              <a:t>Anurag Thakur- </a:t>
            </a:r>
            <a:r>
              <a:rPr lang="en-US" u="sng" dirty="0">
                <a:hlinkClick r:id="rId1"/>
              </a:rPr>
              <a:t>anurag1321.be22@chitkara.edu.in</a:t>
            </a:r>
            <a:endParaRPr lang="en-IN" dirty="0"/>
          </a:p>
          <a:p>
            <a:pPr algn="ctr"/>
            <a:r>
              <a:rPr lang="en-US" dirty="0"/>
              <a:t> Avinash Sisodia- </a:t>
            </a:r>
            <a:r>
              <a:rPr lang="en-US" altLang="en-US" dirty="0">
                <a:hlinkClick r:id="rId2"/>
              </a:rPr>
              <a:t>avinash1414.be22@chitkara.edu.in</a:t>
            </a:r>
            <a:endParaRPr lang="en-US" altLang="en-US" dirty="0"/>
          </a:p>
          <a:p>
            <a:pPr algn="ctr"/>
            <a:r>
              <a:rPr lang="en-US" dirty="0"/>
              <a:t>Arnav Garg- </a:t>
            </a:r>
            <a:r>
              <a:rPr lang="en-US" u="sng" dirty="0">
                <a:hlinkClick r:id="rId1"/>
              </a:rPr>
              <a:t>arnav1348.be22@chitkara.edu.in</a:t>
            </a:r>
            <a:br>
              <a:rPr lang="en-US" dirty="0"/>
            </a:b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Supervised By : </a:t>
            </a:r>
            <a:r>
              <a:rPr lang="en-US" sz="2000" spc="-1" dirty="0" err="1">
                <a:solidFill>
                  <a:srgbClr val="000000"/>
                </a:solidFill>
                <a:latin typeface="Times New Roman" panose="02020603050405020304" pitchFamily="18" charset="0"/>
                <a:ea typeface="MS PGothic" panose="020B0600070205080204" charset="-128"/>
                <a:cs typeface="Times New Roman" panose="02020603050405020304" pitchFamily="18" charset="0"/>
              </a:rPr>
              <a:t>Mr</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 Ajay Kumar </a:t>
            </a: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panose="020B0600070205080204" charset="-128"/>
                <a:cs typeface="Times New Roman" panose="02020603050405020304" pitchFamily="18" charset="0"/>
              </a:rPr>
              <a:t>Department of </a:t>
            </a: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Computer Science and Engineering, </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Chitkara University, Punjab</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panose="020F0502020204030204"/>
            </a:endParaRPr>
          </a:p>
          <a:p>
            <a:pPr>
              <a:lnSpc>
                <a:spcPct val="100000"/>
              </a:lnSpc>
              <a:spcBef>
                <a:spcPts val="640"/>
              </a:spcBef>
            </a:pPr>
            <a:endParaRPr lang="en-US" sz="2000" b="0" strike="noStrike" spc="-1" dirty="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nSpc>
                <a:spcPct val="100000"/>
              </a:lnSpc>
            </a:pPr>
            <a:r>
              <a:rPr lang="en-US" sz="3200" b="1" dirty="0">
                <a:latin typeface="Times New Roman" panose="02020603050405020304" pitchFamily="18" charset="0"/>
                <a:cs typeface="Times New Roman" panose="02020603050405020304" pitchFamily="18" charset="0"/>
              </a:rPr>
              <a:t>Abstract</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52640" y="837720"/>
            <a:ext cx="8838720" cy="5883480"/>
          </a:xfrm>
          <a:prstGeom prst="rect">
            <a:avLst/>
          </a:prstGeom>
          <a:noFill/>
          <a:ln w="9360">
            <a:noFill/>
          </a:ln>
        </p:spPr>
        <p:txBody>
          <a:bodyPr>
            <a:noAutofit/>
          </a:bodyPr>
          <a:lstStyle/>
          <a:p>
            <a:r>
              <a:rPr lang="en-GB" sz="2000" dirty="0">
                <a:latin typeface="Times New Roman" panose="02020603050405020304" pitchFamily="18" charset="0"/>
                <a:cs typeface="Times New Roman" panose="02020603050405020304" pitchFamily="18" charset="0"/>
              </a:rPr>
              <a:t>• </a:t>
            </a:r>
            <a:r>
              <a:rPr lang="en-GB" b="1" dirty="0">
                <a:latin typeface="+mj-lt"/>
                <a:cs typeface="Times New Roman" panose="02020603050405020304" pitchFamily="18" charset="0"/>
              </a:rPr>
              <a:t>Platform Overview</a:t>
            </a:r>
            <a:br>
              <a:rPr lang="en-GB" dirty="0">
                <a:latin typeface="+mj-lt"/>
                <a:cs typeface="Times New Roman" panose="02020603050405020304" pitchFamily="18" charset="0"/>
              </a:rPr>
            </a:br>
            <a:r>
              <a:rPr lang="en-US" dirty="0"/>
              <a:t>My Colony is a web platform that connects housing colony residents with verified, colony-specific local service providers.</a:t>
            </a:r>
            <a:endParaRPr lang="en-US" dirty="0"/>
          </a:p>
          <a:p>
            <a:r>
              <a:rPr lang="en-US" dirty="0"/>
              <a:t>The platform addresses the lack of trusted, community-level service discovery in residential societies.</a:t>
            </a:r>
            <a:endParaRPr lang="en-US" dirty="0"/>
          </a:p>
          <a:p>
            <a:endParaRPr lang="en-GB" dirty="0">
              <a:latin typeface="+mj-lt"/>
              <a:cs typeface="Times New Roman" panose="02020603050405020304" pitchFamily="18" charset="0"/>
            </a:endParaRPr>
          </a:p>
          <a:p>
            <a:r>
              <a:rPr lang="en-GB" dirty="0">
                <a:latin typeface="+mj-lt"/>
                <a:cs typeface="Times New Roman" panose="02020603050405020304" pitchFamily="18" charset="0"/>
              </a:rPr>
              <a:t>• </a:t>
            </a:r>
            <a:r>
              <a:rPr lang="en-IN" b="1" dirty="0"/>
              <a:t>Authentication &amp; Access Control</a:t>
            </a:r>
            <a:br>
              <a:rPr lang="en-GB" dirty="0">
                <a:latin typeface="+mj-lt"/>
                <a:cs typeface="Times New Roman" panose="02020603050405020304" pitchFamily="18" charset="0"/>
              </a:rPr>
            </a:br>
            <a:r>
              <a:rPr lang="en-US" dirty="0"/>
              <a:t>JWT-based authentication ensures secure, stateless user sessions across the platform.</a:t>
            </a:r>
            <a:endParaRPr lang="en-US" dirty="0"/>
          </a:p>
          <a:p>
            <a:r>
              <a:rPr lang="en-US" dirty="0"/>
              <a:t>Role-based access control (RBAC) differentiates residents, service providers, and administrators.</a:t>
            </a:r>
            <a:endParaRPr lang="en-US" dirty="0"/>
          </a:p>
          <a:p>
            <a:endParaRPr lang="en-GB" dirty="0">
              <a:latin typeface="+mj-lt"/>
              <a:cs typeface="Times New Roman" panose="02020603050405020304" pitchFamily="18" charset="0"/>
            </a:endParaRPr>
          </a:p>
          <a:p>
            <a:r>
              <a:rPr lang="en-GB" dirty="0">
                <a:latin typeface="+mj-lt"/>
                <a:cs typeface="Times New Roman" panose="02020603050405020304" pitchFamily="18" charset="0"/>
              </a:rPr>
              <a:t>• </a:t>
            </a:r>
            <a:r>
              <a:rPr lang="en-IN" b="1" dirty="0"/>
              <a:t>Three-Tier MERN Stack</a:t>
            </a:r>
            <a:br>
              <a:rPr lang="en-GB" dirty="0">
                <a:latin typeface="+mj-lt"/>
                <a:cs typeface="Times New Roman" panose="02020603050405020304" pitchFamily="18" charset="0"/>
              </a:rPr>
            </a:br>
            <a:r>
              <a:rPr lang="en-US" dirty="0"/>
              <a:t>React.js powers the frontend, delivering a responsive and intuitive user interface.</a:t>
            </a:r>
            <a:endParaRPr lang="en-US" dirty="0"/>
          </a:p>
          <a:p>
            <a:r>
              <a:rPr lang="en-US" dirty="0"/>
              <a:t>Node.js and Express.js form the backend, handling API logic and business rules.</a:t>
            </a:r>
            <a:endParaRPr lang="en-GB" dirty="0">
              <a:latin typeface="+mj-lt"/>
              <a:cs typeface="Times New Roman" panose="02020603050405020304" pitchFamily="18" charset="0"/>
            </a:endParaRPr>
          </a:p>
          <a:p>
            <a:endParaRPr lang="en-GB" dirty="0">
              <a:latin typeface="+mj-lt"/>
              <a:cs typeface="Times New Roman" panose="02020603050405020304" pitchFamily="18" charset="0"/>
            </a:endParaRPr>
          </a:p>
          <a:p>
            <a:r>
              <a:rPr lang="en-GB" b="1" dirty="0">
                <a:latin typeface="+mj-lt"/>
                <a:cs typeface="Times New Roman" panose="02020603050405020304" pitchFamily="18" charset="0"/>
              </a:rPr>
              <a:t>• </a:t>
            </a:r>
            <a:r>
              <a:rPr lang="en-IN" b="1" dirty="0"/>
              <a:t>Platform Capabilities</a:t>
            </a:r>
            <a:br>
              <a:rPr lang="en-GB" dirty="0">
                <a:latin typeface="+mj-lt"/>
                <a:cs typeface="Times New Roman" panose="02020603050405020304" pitchFamily="18" charset="0"/>
              </a:rPr>
            </a:br>
            <a:r>
              <a:rPr lang="en-GB" dirty="0">
                <a:latin typeface="+mj-lt"/>
                <a:cs typeface="Times New Roman" panose="02020603050405020304" pitchFamily="18" charset="0"/>
              </a:rPr>
              <a:t>M</a:t>
            </a:r>
            <a:r>
              <a:rPr lang="en-US" dirty="0"/>
              <a:t>Colony-scoped listings ensure residents only discover services available within their community.</a:t>
            </a:r>
            <a:endParaRPr lang="en-US" dirty="0"/>
          </a:p>
          <a:p>
            <a:r>
              <a:rPr lang="en-US" dirty="0"/>
              <a:t>Multi-colony management allows the platform to scale across multiple societies freely.</a:t>
            </a:r>
            <a:endParaRPr lang="en-US" dirty="0"/>
          </a:p>
          <a:p>
            <a:endParaRPr lang="en-US"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nSpc>
                <a:spcPct val="100000"/>
              </a:lnSpc>
            </a:pPr>
            <a:r>
              <a:rPr lang="en-US"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52640" y="1517949"/>
            <a:ext cx="8838720" cy="4838571"/>
          </a:xfrm>
          <a:prstGeom prst="rect">
            <a:avLst/>
          </a:prstGeom>
          <a:noFill/>
          <a:ln w="9360">
            <a:noFill/>
          </a:ln>
        </p:spPr>
        <p:txBody>
          <a:bodyPr>
            <a:noAutofit/>
          </a:bodyPr>
          <a:lstStyle/>
          <a:p>
            <a:r>
              <a:rPr lang="en-GB" b="1" dirty="0"/>
              <a:t>• </a:t>
            </a:r>
            <a:r>
              <a:rPr lang="en-IN" b="1" dirty="0"/>
              <a:t>Rise of Gated Communities</a:t>
            </a:r>
            <a:br>
              <a:rPr lang="en-GB" dirty="0"/>
            </a:br>
            <a:r>
              <a:rPr lang="en-IN" dirty="0"/>
              <a:t>Urban</a:t>
            </a:r>
            <a:r>
              <a:rPr lang="en-US" dirty="0"/>
              <a:t> residential colonies face growing demand for everyday local services like maintenance, tutoring, and repairs.</a:t>
            </a:r>
            <a:endParaRPr lang="en-US" dirty="0"/>
          </a:p>
          <a:p>
            <a:r>
              <a:rPr lang="en-US" dirty="0"/>
              <a:t>Residents still rely on informal channels like WhatsApp groups and word-of-mouth to find providers.</a:t>
            </a:r>
            <a:endParaRPr lang="en-US" dirty="0"/>
          </a:p>
          <a:p>
            <a:endParaRPr lang="en-GB" dirty="0"/>
          </a:p>
          <a:p>
            <a:r>
              <a:rPr lang="en-GB" b="1" dirty="0"/>
              <a:t>• Problem with Informal Methods</a:t>
            </a:r>
            <a:br>
              <a:rPr lang="en-GB" dirty="0"/>
            </a:br>
            <a:r>
              <a:rPr lang="en-GB" dirty="0"/>
              <a:t> </a:t>
            </a:r>
            <a:r>
              <a:rPr lang="en-US" dirty="0"/>
              <a:t>Informal networks lack structure and accountability, making provider verification and                                          comparison difficult to make.	                      </a:t>
            </a:r>
            <a:endParaRPr lang="en-US" dirty="0"/>
          </a:p>
          <a:p>
            <a:endParaRPr lang="en-GB" dirty="0"/>
          </a:p>
          <a:p>
            <a:r>
              <a:rPr lang="en-GB" b="1" dirty="0"/>
              <a:t>• </a:t>
            </a:r>
            <a:r>
              <a:rPr lang="en-IN" b="1" dirty="0"/>
              <a:t>Limitations of Existing Platforms</a:t>
            </a:r>
            <a:endParaRPr lang="en-GB" b="1" dirty="0"/>
          </a:p>
          <a:p>
            <a:r>
              <a:rPr lang="en-US" dirty="0"/>
              <a:t>Platforms like UrbanClap and TaskRabbit are built for large-scale use, not colony-  specific communities.</a:t>
            </a:r>
            <a:br>
              <a:rPr lang="en-GB" dirty="0"/>
            </a:br>
            <a:endParaRPr lang="en-GB" b="1" dirty="0"/>
          </a:p>
          <a:p>
            <a:r>
              <a:rPr lang="en-GB" b="1" dirty="0"/>
              <a:t>• </a:t>
            </a:r>
            <a:r>
              <a:rPr lang="en-US" b="1" dirty="0"/>
              <a:t>Need for an Integrated Solution</a:t>
            </a:r>
            <a:br>
              <a:rPr lang="en-GB" dirty="0"/>
            </a:br>
            <a:r>
              <a:rPr lang="en-US" dirty="0"/>
              <a:t>Existing platforms handle only isolated features — no single system combines governance, moderation, and discovery.</a:t>
            </a:r>
            <a:endParaRPr lang="en-GB" dirty="0"/>
          </a:p>
          <a:p>
            <a:pPr marL="457200" lvl="0" indent="-317500">
              <a:buClr>
                <a:srgbClr val="000000"/>
              </a:buClr>
              <a:buSzPts val="1400"/>
              <a:buChar char="●"/>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nSpc>
                <a:spcPct val="100000"/>
              </a:lnSpc>
            </a:pPr>
            <a:r>
              <a:rPr lang="en-US" sz="3200" b="1" dirty="0">
                <a:latin typeface="Times New Roman" panose="02020603050405020304" pitchFamily="18" charset="0"/>
                <a:cs typeface="Times New Roman" panose="02020603050405020304" pitchFamily="18" charset="0"/>
              </a:rPr>
              <a:t>Research Objectives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indent="0">
              <a:buFont typeface="Arial" panose="020B0604020202020204" pitchFamily="34" charset="0"/>
              <a:buNone/>
            </a:pP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strike="noStrike" spc="-1" dirty="0">
                <a:solidFill>
                  <a:srgbClr val="000000"/>
                </a:solidFill>
                <a:latin typeface="Times New Roman" panose="02020603050405020304" pitchFamily="18" charset="0"/>
                <a:cs typeface="Times New Roman" panose="02020603050405020304" pitchFamily="18" charset="0"/>
              </a:rPr>
              <a:t>Build a Hyperlocal Service Marketplace</a:t>
            </a:r>
            <a:r>
              <a:rPr lang="en-US" altLang="en-US" sz="2000" b="0" strike="noStrike" spc="-1" dirty="0">
                <a:solidFill>
                  <a:srgbClr val="000000"/>
                </a:solidFill>
                <a:latin typeface="Times New Roman" panose="02020603050405020304" pitchFamily="18" charset="0"/>
                <a:cs typeface="Times New Roman" panose="02020603050405020304" pitchFamily="18" charset="0"/>
              </a:rPr>
              <a:t> To develop a colony-specific platform where residents can list and discover services like tutoring, food, laundry, and maintenance within their community.</a:t>
            </a: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strike="noStrike" spc="-1" dirty="0">
                <a:solidFill>
                  <a:srgbClr val="000000"/>
                </a:solidFill>
                <a:latin typeface="Times New Roman" panose="02020603050405020304" pitchFamily="18" charset="0"/>
                <a:cs typeface="Times New Roman" panose="02020603050405020304" pitchFamily="18" charset="0"/>
              </a:rPr>
              <a:t>Implement Role-Based Trust Mechanisms</a:t>
            </a:r>
            <a:r>
              <a:rPr lang="en-US" altLang="en-US" sz="2000" b="0" strike="noStrike" spc="-1" dirty="0">
                <a:solidFill>
                  <a:srgbClr val="000000"/>
                </a:solidFill>
                <a:latin typeface="Times New Roman" panose="02020603050405020304" pitchFamily="18" charset="0"/>
                <a:cs typeface="Times New Roman" panose="02020603050405020304" pitchFamily="18" charset="0"/>
              </a:rPr>
              <a:t> To design an admin approval system and resident verification flow that ensures only trusted, verified service providers operate within the colony.</a:t>
            </a: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strike="noStrike" spc="-1" dirty="0">
                <a:solidFill>
                  <a:srgbClr val="000000"/>
                </a:solidFill>
                <a:latin typeface="Times New Roman" panose="02020603050405020304" pitchFamily="18" charset="0"/>
                <a:cs typeface="Times New Roman" panose="02020603050405020304" pitchFamily="18" charset="0"/>
              </a:rPr>
              <a:t>Address the Hyperlocal Trust Deficit</a:t>
            </a:r>
            <a:r>
              <a:rPr lang="en-US" altLang="en-US" sz="2000" b="0" strike="noStrike" spc="-1" dirty="0">
                <a:solidFill>
                  <a:srgbClr val="000000"/>
                </a:solidFill>
                <a:latin typeface="Times New Roman" panose="02020603050405020304" pitchFamily="18" charset="0"/>
                <a:cs typeface="Times New Roman" panose="02020603050405020304" pitchFamily="18" charset="0"/>
              </a:rPr>
              <a:t> To overcome the lack of verified, community-governed platforms by combining JWT authentication, admin oversight, and a review/rating system.</a:t>
            </a: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strike="noStrike" spc="-1" dirty="0">
                <a:solidFill>
                  <a:srgbClr val="000000"/>
                </a:solidFill>
                <a:latin typeface="Times New Roman" panose="02020603050405020304" pitchFamily="18" charset="0"/>
                <a:cs typeface="Times New Roman" panose="02020603050405020304" pitchFamily="18" charset="0"/>
              </a:rPr>
              <a:t>Provide Data-Driven Colony Insights </a:t>
            </a:r>
            <a:r>
              <a:rPr lang="en-US" altLang="en-US" sz="2000" b="0" strike="noStrike" spc="-1" dirty="0">
                <a:solidFill>
                  <a:srgbClr val="000000"/>
                </a:solidFill>
                <a:latin typeface="Times New Roman" panose="02020603050405020304" pitchFamily="18" charset="0"/>
                <a:cs typeface="Times New Roman" panose="02020603050405020304" pitchFamily="18" charset="0"/>
              </a:rPr>
              <a:t>To build an analytics dashboard that gives administrators visibility into service quality, pricing trends, category gaps, and community engagement.</a:t>
            </a: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000" b="0" strike="noStrike" spc="-1" dirty="0">
              <a:solidFill>
                <a:srgbClr val="000000"/>
              </a:solidFill>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549444" y="0"/>
            <a:ext cx="6019560" cy="837720"/>
          </a:xfrm>
          <a:prstGeom prst="rect">
            <a:avLst/>
          </a:prstGeom>
          <a:noFill/>
          <a:ln w="9360">
            <a:noFill/>
          </a:ln>
        </p:spPr>
        <p:txBody>
          <a:bodyPr anchor="ctr">
            <a:noAutofit/>
          </a:bodyPr>
          <a:lstStyle/>
          <a:p>
            <a:pPr algn="ctr">
              <a:lnSpc>
                <a:spcPct val="100000"/>
              </a:lnSpc>
            </a:pPr>
            <a:r>
              <a:rPr lang="en-US" sz="3200" b="1" dirty="0">
                <a:latin typeface="Times New Roman" panose="02020603050405020304" pitchFamily="18" charset="0"/>
                <a:cs typeface="Times New Roman" panose="02020603050405020304" pitchFamily="18" charset="0"/>
              </a:rPr>
              <a:t>Related Work</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50756" y="1009715"/>
            <a:ext cx="8838720" cy="4099614"/>
          </a:xfrm>
          <a:prstGeom prst="rect">
            <a:avLst/>
          </a:prstGeom>
          <a:noFill/>
          <a:ln w="9360">
            <a:noFill/>
          </a:ln>
        </p:spPr>
        <p:txBody>
          <a:bodyPr>
            <a:noAutofit/>
          </a:bodyPr>
          <a:lstStyle/>
          <a:p>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50756" y="5109329"/>
            <a:ext cx="8763306" cy="1198880"/>
          </a:xfrm>
          <a:prstGeom prst="rect">
            <a:avLst/>
          </a:prstGeom>
          <a:noFill/>
        </p:spPr>
        <p:txBody>
          <a:bodyPr wrap="square" rtlCol="0">
            <a:spAutoFit/>
          </a:bodyPr>
          <a:lstStyle/>
          <a:p>
            <a:r>
              <a:rPr lang="en-US" altLang="en-US" sz="1200" dirty="0"/>
              <a:t>• This table presents a comparison between the proposed MyColony platform, generic marketplaces, and informal channels.</a:t>
            </a:r>
            <a:endParaRPr lang="en-US" altLang="en-US" sz="1200" dirty="0"/>
          </a:p>
          <a:p>
            <a:r>
              <a:rPr lang="en-US" altLang="en-US" sz="1200" dirty="0"/>
              <a:t>• Different platforms follow varying approaches to trust, verification, and governance.</a:t>
            </a:r>
            <a:endParaRPr lang="en-US" altLang="en-US" sz="1200" dirty="0"/>
          </a:p>
          <a:p>
            <a:r>
              <a:rPr lang="en-US" altLang="en-US" sz="1200" dirty="0"/>
              <a:t>• MyColony introduces a colony-level trust layer and role-based verification, unlike broader or unstructured systems.</a:t>
            </a:r>
            <a:endParaRPr lang="en-US" altLang="en-US" sz="1200" dirty="0"/>
          </a:p>
          <a:p>
            <a:r>
              <a:rPr lang="en-US" altLang="en-US" sz="1200" dirty="0"/>
              <a:t>• Governance in MyColony is managed locally by admins, while other platforms rely on centralized or no control.</a:t>
            </a:r>
            <a:endParaRPr lang="en-US" altLang="en-US" sz="1200" dirty="0"/>
          </a:p>
          <a:p>
            <a:r>
              <a:rPr lang="en-US" altLang="en-US" sz="1200" dirty="0"/>
              <a:t>• The platform also provides analytics for colony managers, offering better insights compared to limited or no analytics in other systems.</a:t>
            </a:r>
            <a:endParaRPr lang="en-US" altLang="en-US" sz="1200" dirty="0"/>
          </a:p>
        </p:txBody>
      </p:sp>
      <p:graphicFrame>
        <p:nvGraphicFramePr>
          <p:cNvPr id="8" name="Table 7"/>
          <p:cNvGraphicFramePr/>
          <p:nvPr>
            <p:custDataLst>
              <p:tags r:id="rId1"/>
            </p:custDataLst>
          </p:nvPr>
        </p:nvGraphicFramePr>
        <p:xfrm>
          <a:off x="257810" y="1009650"/>
          <a:ext cx="8631555" cy="3996690"/>
        </p:xfrm>
        <a:graphic>
          <a:graphicData uri="http://schemas.openxmlformats.org/drawingml/2006/table">
            <a:tbl>
              <a:tblPr/>
              <a:tblGrid>
                <a:gridCol w="1725295"/>
                <a:gridCol w="2331720"/>
                <a:gridCol w="2331085"/>
                <a:gridCol w="2243455"/>
              </a:tblGrid>
              <a:tr h="737235">
                <a:tc>
                  <a:txBody>
                    <a:bodyPr/>
                    <a:p>
                      <a:pPr marL="17780" indent="0" algn="ctr">
                        <a:spcBef>
                          <a:spcPct val="0"/>
                        </a:spcBef>
                        <a:spcAft>
                          <a:spcPct val="0"/>
                        </a:spcAft>
                      </a:pPr>
                      <a:r>
                        <a:rPr sz="900" b="1">
                          <a:solidFill>
                            <a:srgbClr val="FFFFFF"/>
                          </a:solidFill>
                          <a:latin typeface="Times New Roman" panose="02020603050405020304"/>
                          <a:ea typeface="Times New Roman" panose="02020603050405020304"/>
                        </a:rPr>
                        <a:t>Feature</a:t>
                      </a:r>
                      <a:endParaRPr sz="900" b="1">
                        <a:solidFill>
                          <a:srgbClr val="FFFFFF"/>
                        </a:solidFill>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000000"/>
                    </a:solidFill>
                  </a:tcPr>
                </a:tc>
                <a:tc>
                  <a:txBody>
                    <a:bodyPr/>
                    <a:p>
                      <a:pPr marL="17780" indent="0" algn="ctr">
                        <a:spcBef>
                          <a:spcPct val="0"/>
                        </a:spcBef>
                        <a:spcAft>
                          <a:spcPct val="0"/>
                        </a:spcAft>
                      </a:pPr>
                      <a:r>
                        <a:rPr sz="900" b="1">
                          <a:solidFill>
                            <a:srgbClr val="FFFFFF"/>
                          </a:solidFill>
                          <a:latin typeface="Times New Roman" panose="02020603050405020304"/>
                          <a:ea typeface="Times New Roman" panose="02020603050405020304"/>
                        </a:rPr>
                        <a:t>MyColony (Proposed)</a:t>
                      </a:r>
                      <a:endParaRPr sz="900" b="1">
                        <a:solidFill>
                          <a:srgbClr val="FFFFFF"/>
                        </a:solidFill>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000000"/>
                    </a:solidFill>
                  </a:tcPr>
                </a:tc>
                <a:tc>
                  <a:txBody>
                    <a:bodyPr/>
                    <a:p>
                      <a:pPr marL="17780" indent="0" algn="ctr">
                        <a:spcBef>
                          <a:spcPct val="0"/>
                        </a:spcBef>
                        <a:spcAft>
                          <a:spcPct val="0"/>
                        </a:spcAft>
                      </a:pPr>
                      <a:r>
                        <a:rPr sz="900" b="1">
                          <a:solidFill>
                            <a:srgbClr val="FFFFFF"/>
                          </a:solidFill>
                          <a:latin typeface="Times New Roman" panose="02020603050405020304"/>
                          <a:ea typeface="Times New Roman" panose="02020603050405020304"/>
                        </a:rPr>
                        <a:t>Generic Marketplaces</a:t>
                      </a:r>
                      <a:endParaRPr sz="900" b="1">
                        <a:solidFill>
                          <a:srgbClr val="FFFFFF"/>
                        </a:solidFill>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000000"/>
                    </a:solidFill>
                  </a:tcPr>
                </a:tc>
                <a:tc>
                  <a:txBody>
                    <a:bodyPr/>
                    <a:p>
                      <a:pPr marL="17780" indent="0" algn="ctr">
                        <a:spcBef>
                          <a:spcPct val="0"/>
                        </a:spcBef>
                        <a:spcAft>
                          <a:spcPct val="0"/>
                        </a:spcAft>
                      </a:pPr>
                      <a:r>
                        <a:rPr sz="900" b="1">
                          <a:solidFill>
                            <a:srgbClr val="FFFFFF"/>
                          </a:solidFill>
                          <a:latin typeface="Times New Roman" panose="02020603050405020304"/>
                          <a:ea typeface="Times New Roman" panose="02020603050405020304"/>
                        </a:rPr>
                        <a:t>Informal Channels</a:t>
                      </a:r>
                      <a:endParaRPr sz="900" b="1">
                        <a:solidFill>
                          <a:srgbClr val="FFFFFF"/>
                        </a:solidFill>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000000"/>
                    </a:solidFill>
                  </a:tcPr>
                </a:tc>
              </a:tr>
              <a:tr h="736600">
                <a:tc>
                  <a:txBody>
                    <a:bodyPr/>
                    <a:p>
                      <a:pPr marL="17780" indent="0">
                        <a:spcBef>
                          <a:spcPct val="0"/>
                        </a:spcBef>
                        <a:spcAft>
                          <a:spcPct val="0"/>
                        </a:spcAft>
                      </a:pPr>
                      <a:r>
                        <a:rPr sz="900">
                          <a:latin typeface="Times New Roman" panose="02020603050405020304"/>
                          <a:ea typeface="Times New Roman" panose="02020603050405020304"/>
                        </a:rPr>
                        <a:t>Trust Layer</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2F2F2"/>
                    </a:solidFill>
                  </a:tcPr>
                </a:tc>
                <a:tc>
                  <a:txBody>
                    <a:bodyPr/>
                    <a:p>
                      <a:pPr marL="17780" indent="0">
                        <a:spcBef>
                          <a:spcPct val="0"/>
                        </a:spcBef>
                        <a:spcAft>
                          <a:spcPct val="0"/>
                        </a:spcAft>
                      </a:pPr>
                      <a:r>
                        <a:rPr sz="900" b="1">
                          <a:latin typeface="Times New Roman" panose="02020603050405020304"/>
                          <a:ea typeface="Times New Roman" panose="02020603050405020304"/>
                        </a:rPr>
                        <a:t>Colony-Level Admin</a:t>
                      </a:r>
                      <a:endParaRPr sz="900" b="1">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2F2F2"/>
                    </a:solidFill>
                  </a:tcPr>
                </a:tc>
                <a:tc>
                  <a:txBody>
                    <a:bodyPr/>
                    <a:p>
                      <a:pPr marL="17780" indent="0">
                        <a:spcBef>
                          <a:spcPct val="0"/>
                        </a:spcBef>
                        <a:spcAft>
                          <a:spcPct val="0"/>
                        </a:spcAft>
                      </a:pPr>
                      <a:r>
                        <a:rPr sz="900">
                          <a:latin typeface="Times New Roman" panose="02020603050405020304"/>
                          <a:ea typeface="Times New Roman" panose="02020603050405020304"/>
                        </a:rPr>
                        <a:t>Broad/Global</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2F2F2"/>
                    </a:solidFill>
                  </a:tcPr>
                </a:tc>
                <a:tc>
                  <a:txBody>
                    <a:bodyPr/>
                    <a:p>
                      <a:pPr marL="17780" indent="0">
                        <a:spcBef>
                          <a:spcPct val="0"/>
                        </a:spcBef>
                        <a:spcAft>
                          <a:spcPct val="0"/>
                        </a:spcAft>
                      </a:pPr>
                      <a:r>
                        <a:rPr sz="900">
                          <a:latin typeface="Times New Roman" panose="02020603050405020304"/>
                          <a:ea typeface="Times New Roman" panose="02020603050405020304"/>
                        </a:rPr>
                        <a:t>Personal Referrals</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2F2F2"/>
                    </a:solidFill>
                  </a:tcPr>
                </a:tc>
              </a:tr>
              <a:tr h="1049020">
                <a:tc>
                  <a:txBody>
                    <a:bodyPr/>
                    <a:p>
                      <a:pPr marL="17780" indent="0">
                        <a:spcBef>
                          <a:spcPct val="0"/>
                        </a:spcBef>
                        <a:spcAft>
                          <a:spcPct val="0"/>
                        </a:spcAft>
                      </a:pPr>
                      <a:r>
                        <a:rPr sz="900">
                          <a:latin typeface="Times New Roman" panose="02020603050405020304"/>
                          <a:ea typeface="Times New Roman" panose="02020603050405020304"/>
                        </a:rPr>
                        <a:t>Verification</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FFFFF"/>
                    </a:solidFill>
                  </a:tcPr>
                </a:tc>
                <a:tc>
                  <a:txBody>
                    <a:bodyPr/>
                    <a:p>
                      <a:pPr marL="17780" indent="0">
                        <a:spcBef>
                          <a:spcPct val="0"/>
                        </a:spcBef>
                        <a:spcAft>
                          <a:spcPct val="0"/>
                        </a:spcAft>
                      </a:pPr>
                      <a:r>
                        <a:rPr sz="900" b="1">
                          <a:latin typeface="Times New Roman" panose="02020603050405020304"/>
                          <a:ea typeface="Times New Roman" panose="02020603050405020304"/>
                        </a:rPr>
                        <a:t>Role-Based/Colony-Specific</a:t>
                      </a:r>
                      <a:endParaRPr sz="900" b="1">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FFFFF"/>
                    </a:solidFill>
                  </a:tcPr>
                </a:tc>
                <a:tc>
                  <a:txBody>
                    <a:bodyPr/>
                    <a:p>
                      <a:pPr marL="17780" indent="0">
                        <a:spcBef>
                          <a:spcPct val="0"/>
                        </a:spcBef>
                        <a:spcAft>
                          <a:spcPct val="0"/>
                        </a:spcAft>
                      </a:pPr>
                      <a:r>
                        <a:rPr sz="900">
                          <a:latin typeface="Times New Roman" panose="02020603050405020304"/>
                          <a:ea typeface="Times New Roman" panose="02020603050405020304"/>
                        </a:rPr>
                        <a:t>General Identity</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FFFFF"/>
                    </a:solidFill>
                  </a:tcPr>
                </a:tc>
                <a:tc>
                  <a:txBody>
                    <a:bodyPr/>
                    <a:p>
                      <a:pPr marL="17780" indent="0">
                        <a:spcBef>
                          <a:spcPct val="0"/>
                        </a:spcBef>
                        <a:spcAft>
                          <a:spcPct val="0"/>
                        </a:spcAft>
                      </a:pPr>
                      <a:r>
                        <a:rPr sz="900">
                          <a:latin typeface="Times New Roman" panose="02020603050405020304"/>
                          <a:ea typeface="Times New Roman" panose="02020603050405020304"/>
                        </a:rPr>
                        <a:t>None</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FFFFF"/>
                    </a:solidFill>
                  </a:tcPr>
                </a:tc>
              </a:tr>
              <a:tr h="736600">
                <a:tc>
                  <a:txBody>
                    <a:bodyPr/>
                    <a:p>
                      <a:pPr marL="17780" indent="0">
                        <a:spcBef>
                          <a:spcPct val="0"/>
                        </a:spcBef>
                        <a:spcAft>
                          <a:spcPct val="0"/>
                        </a:spcAft>
                      </a:pPr>
                      <a:r>
                        <a:rPr sz="900">
                          <a:latin typeface="Times New Roman" panose="02020603050405020304"/>
                          <a:ea typeface="Times New Roman" panose="02020603050405020304"/>
                        </a:rPr>
                        <a:t>Governance</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2F2F2"/>
                    </a:solidFill>
                  </a:tcPr>
                </a:tc>
                <a:tc>
                  <a:txBody>
                    <a:bodyPr/>
                    <a:p>
                      <a:pPr marL="17780" indent="0">
                        <a:spcBef>
                          <a:spcPct val="0"/>
                        </a:spcBef>
                        <a:spcAft>
                          <a:spcPct val="0"/>
                        </a:spcAft>
                      </a:pPr>
                      <a:r>
                        <a:rPr sz="900" b="1">
                          <a:latin typeface="Times New Roman" panose="02020603050405020304"/>
                          <a:ea typeface="Times New Roman" panose="02020603050405020304"/>
                        </a:rPr>
                        <a:t>Local Admin Moderation</a:t>
                      </a:r>
                      <a:endParaRPr sz="900" b="1">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2F2F2"/>
                    </a:solidFill>
                  </a:tcPr>
                </a:tc>
                <a:tc>
                  <a:txBody>
                    <a:bodyPr/>
                    <a:p>
                      <a:pPr marL="17780" indent="0">
                        <a:spcBef>
                          <a:spcPct val="0"/>
                        </a:spcBef>
                        <a:spcAft>
                          <a:spcPct val="0"/>
                        </a:spcAft>
                      </a:pPr>
                      <a:r>
                        <a:rPr sz="900">
                          <a:latin typeface="Times New Roman" panose="02020603050405020304"/>
                          <a:ea typeface="Times New Roman" panose="02020603050405020304"/>
                        </a:rPr>
                        <a:t>Platform-wide</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2F2F2"/>
                    </a:solidFill>
                  </a:tcPr>
                </a:tc>
                <a:tc>
                  <a:txBody>
                    <a:bodyPr/>
                    <a:p>
                      <a:pPr marL="17780" indent="0">
                        <a:spcBef>
                          <a:spcPct val="0"/>
                        </a:spcBef>
                        <a:spcAft>
                          <a:spcPct val="0"/>
                        </a:spcAft>
                      </a:pPr>
                      <a:r>
                        <a:rPr sz="900">
                          <a:latin typeface="Times New Roman" panose="02020603050405020304"/>
                          <a:ea typeface="Times New Roman" panose="02020603050405020304"/>
                        </a:rPr>
                        <a:t>None</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2F2F2"/>
                    </a:solidFill>
                  </a:tcPr>
                </a:tc>
              </a:tr>
              <a:tr h="737235">
                <a:tc>
                  <a:txBody>
                    <a:bodyPr/>
                    <a:p>
                      <a:pPr marL="17780" indent="0">
                        <a:spcBef>
                          <a:spcPct val="0"/>
                        </a:spcBef>
                        <a:spcAft>
                          <a:spcPct val="0"/>
                        </a:spcAft>
                      </a:pPr>
                      <a:r>
                        <a:rPr sz="900">
                          <a:latin typeface="Times New Roman" panose="02020603050405020304"/>
                          <a:ea typeface="Times New Roman" panose="02020603050405020304"/>
                        </a:rPr>
                        <a:t>Analytics</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FFFFF"/>
                    </a:solidFill>
                  </a:tcPr>
                </a:tc>
                <a:tc>
                  <a:txBody>
                    <a:bodyPr/>
                    <a:p>
                      <a:pPr marL="17780" indent="0">
                        <a:spcBef>
                          <a:spcPct val="0"/>
                        </a:spcBef>
                        <a:spcAft>
                          <a:spcPct val="0"/>
                        </a:spcAft>
                      </a:pPr>
                      <a:r>
                        <a:rPr sz="900" b="1">
                          <a:latin typeface="Times New Roman" panose="02020603050405020304"/>
                          <a:ea typeface="Times New Roman" panose="02020603050405020304"/>
                        </a:rPr>
                        <a:t>For Colony Managers</a:t>
                      </a:r>
                      <a:endParaRPr sz="900" b="1">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FFFFF"/>
                    </a:solidFill>
                  </a:tcPr>
                </a:tc>
                <a:tc>
                  <a:txBody>
                    <a:bodyPr/>
                    <a:p>
                      <a:pPr marL="17780" indent="0">
                        <a:spcBef>
                          <a:spcPct val="0"/>
                        </a:spcBef>
                        <a:spcAft>
                          <a:spcPct val="0"/>
                        </a:spcAft>
                      </a:pPr>
                      <a:r>
                        <a:rPr sz="900">
                          <a:latin typeface="Times New Roman" panose="02020603050405020304"/>
                          <a:ea typeface="Times New Roman" panose="02020603050405020304"/>
                        </a:rPr>
                        <a:t>For Providers</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FFFFF"/>
                    </a:solidFill>
                  </a:tcPr>
                </a:tc>
                <a:tc>
                  <a:txBody>
                    <a:bodyPr/>
                    <a:p>
                      <a:pPr marL="17780" indent="0">
                        <a:spcBef>
                          <a:spcPct val="0"/>
                        </a:spcBef>
                        <a:spcAft>
                          <a:spcPct val="0"/>
                        </a:spcAft>
                      </a:pPr>
                      <a:r>
                        <a:rPr sz="900">
                          <a:latin typeface="Times New Roman" panose="02020603050405020304"/>
                          <a:ea typeface="Times New Roman" panose="02020603050405020304"/>
                        </a:rPr>
                        <a:t>None</a:t>
                      </a:r>
                      <a:endParaRPr sz="900">
                        <a:latin typeface="Times New Roman" panose="02020603050405020304"/>
                        <a:ea typeface="Times New Roman" panose="02020603050405020304"/>
                      </a:endParaRPr>
                    </a:p>
                  </a:txBody>
                  <a:tcPr marL="50800" marR="50800" marT="25400" marB="25400" anchor="t" anchorCtr="0">
                    <a:lnL w="9525" cap="flat" cmpd="sng">
                      <a:solidFill>
                        <a:srgbClr val="888888"/>
                      </a:solidFill>
                      <a:prstDash val="solid"/>
                      <a:headEnd type="none" w="med" len="med"/>
                      <a:tailEnd type="none" w="med" len="med"/>
                    </a:lnL>
                    <a:lnR w="9525" cap="flat" cmpd="sng">
                      <a:solidFill>
                        <a:srgbClr val="888888"/>
                      </a:solidFill>
                      <a:prstDash val="solid"/>
                      <a:headEnd type="none" w="med" len="med"/>
                      <a:tailEnd type="none" w="med" len="med"/>
                    </a:lnR>
                    <a:lnT w="9525" cap="flat" cmpd="sng">
                      <a:solidFill>
                        <a:srgbClr val="888888"/>
                      </a:solidFill>
                      <a:prstDash val="solid"/>
                      <a:headEnd type="none" w="med" len="med"/>
                      <a:tailEnd type="none" w="med" len="med"/>
                    </a:lnT>
                    <a:lnB w="9525" cap="flat" cmpd="sng">
                      <a:solidFill>
                        <a:srgbClr val="888888"/>
                      </a:solidFill>
                      <a:prstDash val="soli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Methodology</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4" name="TextBox 3"/>
          <p:cNvSpPr txBox="1"/>
          <p:nvPr/>
        </p:nvSpPr>
        <p:spPr>
          <a:xfrm>
            <a:off x="164406" y="5902193"/>
            <a:ext cx="8979594" cy="646331"/>
          </a:xfrm>
          <a:prstGeom prst="rect">
            <a:avLst/>
          </a:prstGeom>
          <a:noFill/>
        </p:spPr>
        <p:txBody>
          <a:bodyPr wrap="square" rtlCol="0">
            <a:spAutoFit/>
          </a:bodyPr>
          <a:lstStyle/>
          <a:p>
            <a:r>
              <a:rPr lang="en-GB" dirty="0"/>
              <a:t>Our methodology follows a step-by-step pipeline starting from data collection to model evaluation. Each step ensures better accuracy and reliability of predictions.</a:t>
            </a:r>
            <a:endParaRPr lang="en-IN" dirty="0"/>
          </a:p>
        </p:txBody>
      </p:sp>
      <p:pic>
        <p:nvPicPr>
          <p:cNvPr id="2" name="Picture 1" descr="ChatGPT Image Apr 28, 2026, 09_30_58 PM"/>
          <p:cNvPicPr>
            <a:picLocks noChangeAspect="1"/>
          </p:cNvPicPr>
          <p:nvPr/>
        </p:nvPicPr>
        <p:blipFill>
          <a:blip r:embed="rId1"/>
          <a:stretch>
            <a:fillRect/>
          </a:stretch>
        </p:blipFill>
        <p:spPr>
          <a:xfrm>
            <a:off x="560705" y="982980"/>
            <a:ext cx="8016240" cy="47104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Datasets Used</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US" altLang="en-US" sz="2000" spc="-1" dirty="0">
                <a:solidFill>
                  <a:srgbClr val="000000"/>
                </a:solidFill>
                <a:latin typeface="Times New Roman" panose="02020603050405020304" pitchFamily="18" charset="0"/>
                <a:cs typeface="Times New Roman" panose="02020603050405020304" pitchFamily="18" charset="0"/>
              </a:rPr>
              <a:t>• Primary Dataset Source</a:t>
            </a:r>
            <a:endParaRPr lang="en-US" altLang="en-US" sz="2000" spc="-1" dirty="0">
              <a:solidFill>
                <a:srgbClr val="000000"/>
              </a:solidFill>
              <a:latin typeface="Times New Roman" panose="02020603050405020304" pitchFamily="18" charset="0"/>
              <a:cs typeface="Times New Roman" panose="02020603050405020304" pitchFamily="18" charset="0"/>
            </a:endParaRPr>
          </a:p>
          <a:p>
            <a:r>
              <a:rPr lang="en-US" altLang="en-US" sz="2000" spc="-1" dirty="0">
                <a:solidFill>
                  <a:srgbClr val="000000"/>
                </a:solidFill>
                <a:latin typeface="Times New Roman" panose="02020603050405020304" pitchFamily="18" charset="0"/>
                <a:cs typeface="Times New Roman" panose="02020603050405020304" pitchFamily="18" charset="0"/>
              </a:rPr>
              <a:t>UCI Student Performance Dataset is used for analysis, providing structured academic and student-related data.</a:t>
            </a:r>
            <a:endParaRPr lang="en-US" altLang="en-US" sz="2000" spc="-1" dirty="0">
              <a:solidFill>
                <a:srgbClr val="000000"/>
              </a:solidFill>
              <a:latin typeface="Times New Roman" panose="02020603050405020304" pitchFamily="18" charset="0"/>
              <a:cs typeface="Times New Roman" panose="02020603050405020304" pitchFamily="18" charset="0"/>
            </a:endParaRPr>
          </a:p>
          <a:p>
            <a:endParaRPr lang="en-US" altLang="en-US" sz="2000" spc="-1" dirty="0">
              <a:solidFill>
                <a:srgbClr val="000000"/>
              </a:solidFill>
              <a:latin typeface="Times New Roman" panose="02020603050405020304" pitchFamily="18" charset="0"/>
              <a:cs typeface="Times New Roman" panose="02020603050405020304" pitchFamily="18" charset="0"/>
            </a:endParaRPr>
          </a:p>
          <a:p>
            <a:r>
              <a:rPr lang="en-US" altLang="en-US" sz="2000" spc="-1" dirty="0">
                <a:solidFill>
                  <a:srgbClr val="000000"/>
                </a:solidFill>
                <a:latin typeface="Times New Roman" panose="02020603050405020304" pitchFamily="18" charset="0"/>
                <a:cs typeface="Times New Roman" panose="02020603050405020304" pitchFamily="18" charset="0"/>
              </a:rPr>
              <a:t>• Dataset Composition</a:t>
            </a:r>
            <a:endParaRPr lang="en-US" altLang="en-US" sz="2000" spc="-1" dirty="0">
              <a:solidFill>
                <a:srgbClr val="000000"/>
              </a:solidFill>
              <a:latin typeface="Times New Roman" panose="02020603050405020304" pitchFamily="18" charset="0"/>
              <a:cs typeface="Times New Roman" panose="02020603050405020304" pitchFamily="18" charset="0"/>
            </a:endParaRPr>
          </a:p>
          <a:p>
            <a:r>
              <a:rPr lang="en-US" altLang="en-US" sz="2000" spc="-1" dirty="0">
                <a:solidFill>
                  <a:srgbClr val="000000"/>
                </a:solidFill>
                <a:latin typeface="Times New Roman" panose="02020603050405020304" pitchFamily="18" charset="0"/>
                <a:cs typeface="Times New Roman" panose="02020603050405020304" pitchFamily="18" charset="0"/>
              </a:rPr>
              <a:t>The dataset contains around 649 student records with 33 attributes, covering demographic, academic, and behavioral information.</a:t>
            </a:r>
            <a:endParaRPr lang="en-US" altLang="en-US" sz="2000" spc="-1" dirty="0">
              <a:solidFill>
                <a:srgbClr val="000000"/>
              </a:solidFill>
              <a:latin typeface="Times New Roman" panose="02020603050405020304" pitchFamily="18" charset="0"/>
              <a:cs typeface="Times New Roman" panose="02020603050405020304" pitchFamily="18" charset="0"/>
            </a:endParaRPr>
          </a:p>
          <a:p>
            <a:endParaRPr lang="en-US" altLang="en-US" sz="2000" spc="-1" dirty="0">
              <a:solidFill>
                <a:srgbClr val="000000"/>
              </a:solidFill>
              <a:latin typeface="Times New Roman" panose="02020603050405020304" pitchFamily="18" charset="0"/>
              <a:cs typeface="Times New Roman" panose="02020603050405020304" pitchFamily="18" charset="0"/>
            </a:endParaRPr>
          </a:p>
          <a:p>
            <a:r>
              <a:rPr lang="en-US" altLang="en-US" sz="2000" spc="-1" dirty="0">
                <a:solidFill>
                  <a:srgbClr val="000000"/>
                </a:solidFill>
                <a:latin typeface="Times New Roman" panose="02020603050405020304" pitchFamily="18" charset="0"/>
                <a:cs typeface="Times New Roman" panose="02020603050405020304" pitchFamily="18" charset="0"/>
              </a:rPr>
              <a:t>• Key Features Considered</a:t>
            </a:r>
            <a:endParaRPr lang="en-US" altLang="en-US" sz="2000" spc="-1" dirty="0">
              <a:solidFill>
                <a:srgbClr val="000000"/>
              </a:solidFill>
              <a:latin typeface="Times New Roman" panose="02020603050405020304" pitchFamily="18" charset="0"/>
              <a:cs typeface="Times New Roman" panose="02020603050405020304" pitchFamily="18" charset="0"/>
            </a:endParaRPr>
          </a:p>
          <a:p>
            <a:r>
              <a:rPr lang="en-US" altLang="en-US" sz="2000" spc="-1" dirty="0">
                <a:solidFill>
                  <a:srgbClr val="000000"/>
                </a:solidFill>
                <a:latin typeface="Times New Roman" panose="02020603050405020304" pitchFamily="18" charset="0"/>
                <a:cs typeface="Times New Roman" panose="02020603050405020304" pitchFamily="18" charset="0"/>
              </a:rPr>
              <a:t>Important variables include study time, attendance, parental education, and past grades, which significantly influence student performance.</a:t>
            </a:r>
            <a:endParaRPr lang="en-US" altLang="en-US" sz="2000" spc="-1" dirty="0">
              <a:solidFill>
                <a:srgbClr val="000000"/>
              </a:solidFill>
              <a:latin typeface="Times New Roman" panose="02020603050405020304" pitchFamily="18" charset="0"/>
              <a:cs typeface="Times New Roman" panose="02020603050405020304" pitchFamily="18" charset="0"/>
            </a:endParaRPr>
          </a:p>
          <a:p>
            <a:endParaRPr lang="en-US" altLang="en-US" sz="2000" spc="-1" dirty="0">
              <a:solidFill>
                <a:srgbClr val="000000"/>
              </a:solidFill>
              <a:latin typeface="Times New Roman" panose="02020603050405020304" pitchFamily="18" charset="0"/>
              <a:cs typeface="Times New Roman" panose="02020603050405020304" pitchFamily="18" charset="0"/>
            </a:endParaRPr>
          </a:p>
          <a:p>
            <a:r>
              <a:rPr lang="en-US" altLang="en-US" sz="2000" spc="-1" dirty="0">
                <a:solidFill>
                  <a:srgbClr val="000000"/>
                </a:solidFill>
                <a:latin typeface="Times New Roman" panose="02020603050405020304" pitchFamily="18" charset="0"/>
                <a:cs typeface="Times New Roman" panose="02020603050405020304" pitchFamily="18" charset="0"/>
              </a:rPr>
              <a:t>• Target Variable</a:t>
            </a:r>
            <a:endParaRPr lang="en-US" altLang="en-US" sz="2000" spc="-1" dirty="0">
              <a:solidFill>
                <a:srgbClr val="000000"/>
              </a:solidFill>
              <a:latin typeface="Times New Roman" panose="02020603050405020304" pitchFamily="18" charset="0"/>
              <a:cs typeface="Times New Roman" panose="02020603050405020304" pitchFamily="18" charset="0"/>
            </a:endParaRPr>
          </a:p>
          <a:p>
            <a:r>
              <a:rPr lang="en-US" altLang="en-US" sz="2000" spc="-1" dirty="0">
                <a:solidFill>
                  <a:srgbClr val="000000"/>
                </a:solidFill>
                <a:latin typeface="Times New Roman" panose="02020603050405020304" pitchFamily="18" charset="0"/>
                <a:cs typeface="Times New Roman" panose="02020603050405020304" pitchFamily="18" charset="0"/>
              </a:rPr>
              <a:t>Final grade (G3) is used as the output variable, representing the overall academic performance of students.</a:t>
            </a:r>
            <a:endParaRPr lang="en-US" altLang="en-US" sz="20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Datasets Used</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52400" y="837565"/>
            <a:ext cx="8838565" cy="5024755"/>
          </a:xfrm>
          <a:prstGeom prst="rect">
            <a:avLst/>
          </a:prstGeom>
          <a:noFill/>
          <a:ln w="9360">
            <a:noFill/>
          </a:ln>
        </p:spPr>
        <p:txBody>
          <a:bodyPr>
            <a:noAutofit/>
          </a:bodyPr>
          <a:lstStyle/>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Arial" panose="020B0604020202020204" pitchFamily="34" charset="0"/>
            </a:endParaRPr>
          </a:p>
          <a:p>
            <a:r>
              <a:rPr lang="en-IN" sz="2000" dirty="0"/>
              <a:t>• No single dataset provides complete analysis for all machine learning models.</a:t>
            </a:r>
            <a:br>
              <a:rPr lang="en-IN" sz="2000" dirty="0"/>
            </a:br>
            <a:r>
              <a:rPr lang="en-IN" sz="2000" dirty="0"/>
              <a:t>• Therefore, insights are taken from multiple research studies and sources.</a:t>
            </a:r>
            <a:endParaRPr lang="en-IN" sz="2000" dirty="0"/>
          </a:p>
          <a:p>
            <a:r>
              <a:rPr lang="en-IN" sz="2000" b="1" dirty="0"/>
              <a:t>Data compiled from:</a:t>
            </a:r>
            <a:endParaRPr lang="en-IN" sz="2000" dirty="0"/>
          </a:p>
          <a:p>
            <a:r>
              <a:rPr lang="en-IN" altLang="en-US" sz="2000" b="1" dirty="0" err="1"/>
              <a:t>1) </a:t>
            </a:r>
            <a:r>
              <a:rPr lang="en-US" altLang="en-US" sz="2000" b="1" dirty="0" err="1"/>
              <a:t>N. Luo, Y. Wang, and M. Zhang, “Integrating community and e-commerce to build a trusted online second-hand platform,” Technological Forecasting and Social Change, vol. 153, 2020.</a:t>
            </a:r>
            <a:endParaRPr lang="en-US" altLang="en-US" sz="2000" b="1" dirty="0" err="1"/>
          </a:p>
          <a:p>
            <a:r>
              <a:rPr lang="en-IN" altLang="en-US" sz="2000" b="1" dirty="0"/>
              <a:t>2) </a:t>
            </a:r>
            <a:r>
              <a:rPr lang="en-US" altLang="en-US" sz="2000" b="1" dirty="0"/>
              <a:t>A. Sundararajan, The Sharing Economy: The End of Employment and the Rise of Crowd-Based Capitalism. MIT Press, 2016.</a:t>
            </a:r>
            <a:endParaRPr lang="en-US" altLang="en-US" sz="2000" b="1" dirty="0"/>
          </a:p>
          <a:p>
            <a:r>
              <a:rPr lang="en-IN" altLang="en-US" sz="2000" b="1" dirty="0"/>
              <a:t>3) </a:t>
            </a:r>
            <a:r>
              <a:rPr lang="en-US" altLang="en-US" sz="2000" b="1" dirty="0"/>
              <a:t>R. Botsman and R. Rogers, What’s Mine Is Yours: The Rise of Collaborative Consumption. Harper Business, 2010.</a:t>
            </a:r>
            <a:endParaRPr lang="en-US" altLang="en-US" sz="2000" b="1" dirty="0"/>
          </a:p>
          <a:p>
            <a:r>
              <a:rPr lang="en-IN" altLang="en-US" sz="2000" b="1" dirty="0"/>
              <a:t>4)</a:t>
            </a:r>
            <a:r>
              <a:rPr lang="en-US" altLang="en-US" sz="2000" b="1" dirty="0"/>
              <a:t>S. Davidson and M. Infranca, “The sharing economy as an urban phenomenon,” Yale Law &amp; Policy Review, vol. 34, no. 2, pp. 215–279, 2016.</a:t>
            </a:r>
            <a:endParaRPr lang="en-US" altLang="en-US" sz="2000" b="1" dirty="0"/>
          </a:p>
          <a:p>
            <a:pPr lvl="0" eaLnBrk="0" fontAlgn="base" hangingPunct="0">
              <a:spcBef>
                <a:spcPct val="0"/>
              </a:spcBef>
              <a:spcAft>
                <a:spcPct val="0"/>
              </a:spcAft>
            </a:pPr>
            <a:endParaRPr lang="en-US" sz="2000" spc="-1" dirty="0">
              <a:solidFill>
                <a:srgbClr val="00000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GB" sz="2000" dirty="0"/>
              <a:t>“Since no single dataset covers all aspects, we referred multiple research papers to strengthen our analysis.”</a:t>
            </a:r>
            <a:endParaRPr lang="en-US" sz="20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Results Table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342900" lvl="0" indent="-342900" eaLnBrk="0" fontAlgn="base" hangingPunct="0">
              <a:spcBef>
                <a:spcPct val="0"/>
              </a:spcBef>
              <a:spcAft>
                <a:spcPct val="0"/>
              </a:spcAft>
              <a:buFont typeface="Wingdings" panose="05000000000000000000" pitchFamily="2" charset="2"/>
              <a:buChar char="Ø"/>
            </a:pPr>
            <a:endParaRPr lang="en-US" sz="2000" b="1" strike="noStrike" spc="-1" dirty="0">
              <a:solidFill>
                <a:srgbClr val="000000"/>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nvGraphicFramePr>
        <p:xfrm>
          <a:off x="322580" y="996950"/>
          <a:ext cx="8681720" cy="2513965"/>
        </p:xfrm>
        <a:graphic>
          <a:graphicData uri="http://schemas.openxmlformats.org/drawingml/2006/table">
            <a:tbl>
              <a:tblPr>
                <a:tableStyleId>{775DCB02-9BB8-47FD-8907-85C794F793BA}</a:tableStyleId>
              </a:tblPr>
              <a:tblGrid>
                <a:gridCol w="2170430"/>
                <a:gridCol w="2170430"/>
                <a:gridCol w="2170430"/>
                <a:gridCol w="2170430"/>
              </a:tblGrid>
              <a:tr h="466090">
                <a:tc>
                  <a:txBody>
                    <a:bodyPr/>
                    <a:lstStyle/>
                    <a:p>
                      <a:pPr>
                        <a:buNone/>
                      </a:pPr>
                      <a:r>
                        <a:rPr lang="en-IN"/>
                        <a:t>Colony</a:t>
                      </a:r>
                      <a:endParaRPr lang="en-IN"/>
                    </a:p>
                  </a:txBody>
                  <a:tcPr anchor="ctr"/>
                </a:tc>
                <a:tc>
                  <a:txBody>
                    <a:bodyPr/>
                    <a:lstStyle/>
                    <a:p>
                      <a:pPr>
                        <a:buNone/>
                      </a:pPr>
                      <a:r>
                        <a:rPr lang="en-US" altLang="en-US"/>
                        <a:t>No. of Users</a:t>
                      </a:r>
                      <a:endParaRPr lang="en-US" altLang="en-US"/>
                    </a:p>
                  </a:txBody>
                  <a:tcPr anchor="ctr"/>
                </a:tc>
                <a:tc>
                  <a:txBody>
                    <a:bodyPr/>
                    <a:lstStyle/>
                    <a:p>
                      <a:pPr>
                        <a:buNone/>
                      </a:pPr>
                      <a:r>
                        <a:rPr lang="en-US" altLang="en-US"/>
                        <a:t>Services Posted</a:t>
                      </a:r>
                      <a:endParaRPr lang="en-US" altLang="en-US"/>
                    </a:p>
                  </a:txBody>
                  <a:tcPr anchor="ctr"/>
                </a:tc>
                <a:tc>
                  <a:txBody>
                    <a:bodyPr/>
                    <a:lstStyle/>
                    <a:p>
                      <a:pPr>
                        <a:buNone/>
                      </a:pPr>
                      <a:r>
                        <a:rPr lang="en-US" altLang="en-US"/>
                        <a:t>Services </a:t>
                      </a:r>
                      <a:r>
                        <a:rPr lang="en-IN" altLang="en-US"/>
                        <a:t>Views</a:t>
                      </a:r>
                      <a:endParaRPr lang="en-IN" altLang="en-US"/>
                    </a:p>
                  </a:txBody>
                  <a:tcPr anchor="ctr"/>
                </a:tc>
              </a:tr>
              <a:tr h="816610">
                <a:tc>
                  <a:txBody>
                    <a:bodyPr/>
                    <a:lstStyle/>
                    <a:p>
                      <a:pPr>
                        <a:buNone/>
                      </a:pPr>
                      <a:r>
                        <a:rPr lang="en-IN" sz="1800">
                          <a:sym typeface="+mn-ea"/>
                        </a:rPr>
                        <a:t>Colony 1</a:t>
                      </a:r>
                      <a:endParaRPr lang="en-IN"/>
                    </a:p>
                  </a:txBody>
                  <a:tcPr anchor="ctr"/>
                </a:tc>
                <a:tc>
                  <a:txBody>
                    <a:bodyPr/>
                    <a:lstStyle/>
                    <a:p>
                      <a:pPr>
                        <a:buNone/>
                      </a:pPr>
                      <a:r>
                        <a:rPr lang="en-IN" dirty="0"/>
                        <a:t>150</a:t>
                      </a:r>
                      <a:endParaRPr lang="en-IN" dirty="0"/>
                    </a:p>
                  </a:txBody>
                  <a:tcPr anchor="ctr"/>
                </a:tc>
                <a:tc>
                  <a:txBody>
                    <a:bodyPr/>
                    <a:lstStyle/>
                    <a:p>
                      <a:pPr>
                        <a:buNone/>
                      </a:pPr>
                      <a:r>
                        <a:rPr lang="en-IN"/>
                        <a:t>60</a:t>
                      </a:r>
                      <a:endParaRPr lang="en-IN"/>
                    </a:p>
                  </a:txBody>
                  <a:tcPr anchor="ctr"/>
                </a:tc>
                <a:tc>
                  <a:txBody>
                    <a:bodyPr/>
                    <a:lstStyle/>
                    <a:p>
                      <a:pPr>
                        <a:buNone/>
                      </a:pPr>
                      <a:r>
                        <a:rPr lang="en-IN"/>
                        <a:t>420</a:t>
                      </a:r>
                      <a:endParaRPr lang="en-IN"/>
                    </a:p>
                  </a:txBody>
                  <a:tcPr anchor="ctr"/>
                </a:tc>
              </a:tr>
              <a:tr h="466090">
                <a:tc>
                  <a:txBody>
                    <a:bodyPr/>
                    <a:lstStyle/>
                    <a:p>
                      <a:pPr>
                        <a:buNone/>
                      </a:pPr>
                      <a:r>
                        <a:rPr lang="en-IN" sz="1800">
                          <a:sym typeface="+mn-ea"/>
                        </a:rPr>
                        <a:t>Colony 2</a:t>
                      </a:r>
                      <a:endParaRPr lang="en-IN"/>
                    </a:p>
                  </a:txBody>
                  <a:tcPr anchor="ctr"/>
                </a:tc>
                <a:tc>
                  <a:txBody>
                    <a:bodyPr/>
                    <a:lstStyle/>
                    <a:p>
                      <a:pPr>
                        <a:buNone/>
                      </a:pPr>
                      <a:r>
                        <a:rPr lang="en-IN"/>
                        <a:t>90</a:t>
                      </a:r>
                      <a:endParaRPr lang="en-IN"/>
                    </a:p>
                  </a:txBody>
                  <a:tcPr anchor="ctr"/>
                </a:tc>
                <a:tc>
                  <a:txBody>
                    <a:bodyPr/>
                    <a:lstStyle/>
                    <a:p>
                      <a:pPr>
                        <a:buNone/>
                      </a:pPr>
                      <a:r>
                        <a:rPr lang="en-IN"/>
                        <a:t>40</a:t>
                      </a:r>
                      <a:endParaRPr lang="en-IN"/>
                    </a:p>
                  </a:txBody>
                  <a:tcPr anchor="ctr"/>
                </a:tc>
                <a:tc>
                  <a:txBody>
                    <a:bodyPr/>
                    <a:lstStyle/>
                    <a:p>
                      <a:pPr>
                        <a:buNone/>
                      </a:pPr>
                      <a:r>
                        <a:rPr lang="en-IN"/>
                        <a:t>300</a:t>
                      </a:r>
                      <a:endParaRPr lang="en-IN"/>
                    </a:p>
                  </a:txBody>
                  <a:tcPr anchor="ctr"/>
                </a:tc>
              </a:tr>
              <a:tr h="765175">
                <a:tc>
                  <a:txBody>
                    <a:bodyPr/>
                    <a:lstStyle/>
                    <a:p>
                      <a:pPr>
                        <a:buNone/>
                      </a:pPr>
                      <a:r>
                        <a:rPr lang="en-IN" sz="1800">
                          <a:sym typeface="+mn-ea"/>
                        </a:rPr>
                        <a:t>Colony 3</a:t>
                      </a:r>
                      <a:endParaRPr lang="en-IN"/>
                    </a:p>
                  </a:txBody>
                  <a:tcPr anchor="ctr"/>
                </a:tc>
                <a:tc>
                  <a:txBody>
                    <a:bodyPr/>
                    <a:lstStyle/>
                    <a:p>
                      <a:pPr>
                        <a:buNone/>
                      </a:pPr>
                      <a:r>
                        <a:rPr lang="en-IN"/>
                        <a:t>50</a:t>
                      </a:r>
                      <a:endParaRPr lang="en-IN"/>
                    </a:p>
                  </a:txBody>
                  <a:tcPr anchor="ctr"/>
                </a:tc>
                <a:tc>
                  <a:txBody>
                    <a:bodyPr/>
                    <a:lstStyle/>
                    <a:p>
                      <a:pPr>
                        <a:buNone/>
                      </a:pPr>
                      <a:r>
                        <a:rPr lang="en-IN"/>
                        <a:t>30</a:t>
                      </a:r>
                      <a:endParaRPr lang="en-IN"/>
                    </a:p>
                  </a:txBody>
                  <a:tcPr anchor="ctr"/>
                </a:tc>
                <a:tc>
                  <a:txBody>
                    <a:bodyPr/>
                    <a:lstStyle/>
                    <a:p>
                      <a:pPr>
                        <a:buNone/>
                      </a:pPr>
                      <a:r>
                        <a:rPr lang="en-IN"/>
                        <a:t>170</a:t>
                      </a:r>
                      <a:endParaRPr lang="en-IN"/>
                    </a:p>
                  </a:txBody>
                  <a:tcPr anchor="ctr"/>
                </a:tc>
              </a:tr>
            </a:tbl>
          </a:graphicData>
        </a:graphic>
      </p:graphicFrame>
      <p:sp>
        <p:nvSpPr>
          <p:cNvPr id="4" name="TextBox 3"/>
          <p:cNvSpPr txBox="1"/>
          <p:nvPr/>
        </p:nvSpPr>
        <p:spPr>
          <a:xfrm>
            <a:off x="457200" y="3670935"/>
            <a:ext cx="8328660" cy="3064510"/>
          </a:xfrm>
          <a:prstGeom prst="rect">
            <a:avLst/>
          </a:prstGeom>
          <a:noFill/>
        </p:spPr>
        <p:txBody>
          <a:bodyPr wrap="square" rtlCol="0">
            <a:noAutofit/>
          </a:bodyPr>
          <a:lstStyle/>
          <a:p>
            <a:pPr marL="285750" indent="-285750">
              <a:buFont typeface="Arial" panose="020B0604020202020204" pitchFamily="34" charset="0"/>
              <a:buChar char="•"/>
            </a:pPr>
            <a:r>
              <a:rPr lang="en-US" altLang="en-US" dirty="0"/>
              <a:t>• This table shows the colony-wise user engagement comparison across different residential communities.</a:t>
            </a:r>
            <a:endParaRPr lang="en-US" altLang="en-US" dirty="0"/>
          </a:p>
          <a:p>
            <a:pPr marL="285750" indent="-285750">
              <a:buFont typeface="Arial" panose="020B0604020202020204" pitchFamily="34" charset="0"/>
              <a:buChar char="•"/>
            </a:pPr>
            <a:r>
              <a:rPr lang="en-US" altLang="en-US" dirty="0"/>
              <a:t>• Colony 1 has the highest number of users, services posted, and service views, indicating maximum activity.</a:t>
            </a:r>
            <a:endParaRPr lang="en-US" altLang="en-US" dirty="0"/>
          </a:p>
          <a:p>
            <a:pPr marL="285750" indent="-285750">
              <a:buFont typeface="Arial" panose="020B0604020202020204" pitchFamily="34" charset="0"/>
              <a:buChar char="•"/>
            </a:pPr>
            <a:r>
              <a:rPr lang="en-US" altLang="en-US" dirty="0"/>
              <a:t>• Colony 2 shows moderate engagement with balanced user participation and service usage.</a:t>
            </a:r>
            <a:endParaRPr lang="en-US" altLang="en-US" dirty="0"/>
          </a:p>
          <a:p>
            <a:pPr marL="285750" indent="-285750">
              <a:buFont typeface="Arial" panose="020B0604020202020204" pitchFamily="34" charset="0"/>
              <a:buChar char="•"/>
            </a:pPr>
            <a:r>
              <a:rPr lang="en-US" altLang="en-US" dirty="0"/>
              <a:t>• Colony 3 has the lowest engagement levels in terms of users, postings, and views.</a:t>
            </a:r>
            <a:endParaRPr lang="en-US" altLang="en-US" dirty="0"/>
          </a:p>
          <a:p>
            <a:pPr marL="285750" indent="-285750">
              <a:buFont typeface="Arial" panose="020B0604020202020204" pitchFamily="34" charset="0"/>
              <a:buChar char="•"/>
            </a:pPr>
            <a:r>
              <a:rPr lang="en-US" altLang="en-US" dirty="0"/>
              <a:t>• Overall, the data proves that higher user participation leads to increased service activity and platform engagement.</a:t>
            </a: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Results </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52640" y="418860"/>
            <a:ext cx="8838720" cy="3567309"/>
          </a:xfrm>
          <a:prstGeom prst="rect">
            <a:avLst/>
          </a:prstGeom>
          <a:noFill/>
          <a:ln w="9360">
            <a:noFill/>
          </a:ln>
        </p:spPr>
        <p:txBody>
          <a:bodyPr>
            <a:noAutofit/>
          </a:bodyPr>
          <a:lstStyle/>
          <a:p>
            <a:pPr marL="342900" lvl="0" indent="-342900" eaLnBrk="0" fontAlgn="base" hangingPunct="0">
              <a:spcBef>
                <a:spcPct val="0"/>
              </a:spcBef>
              <a:spcAft>
                <a:spcPct val="0"/>
              </a:spcAft>
              <a:buFont typeface="Wingdings" panose="05000000000000000000" pitchFamily="2" charset="2"/>
              <a:buChar char="Ø"/>
            </a:pPr>
            <a:endParaRPr lang="en-US" sz="2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152640" y="3740424"/>
            <a:ext cx="8161801" cy="3046095"/>
          </a:xfrm>
          <a:prstGeom prst="rect">
            <a:avLst/>
          </a:prstGeom>
          <a:noFill/>
        </p:spPr>
        <p:txBody>
          <a:bodyPr wrap="square" rtlCol="0">
            <a:spAutoFit/>
          </a:bodyPr>
          <a:lstStyle/>
          <a:p>
            <a:r>
              <a:rPr lang="en-US" altLang="en-US" sz="1600" b="1" dirty="0"/>
              <a:t>Administrative Approval Workflow</a:t>
            </a:r>
            <a:endParaRPr lang="en-US" altLang="en-US" sz="1600" b="1" dirty="0"/>
          </a:p>
          <a:p>
            <a:r>
              <a:rPr lang="en-US" altLang="en-US" sz="1600" dirty="0"/>
              <a:t>The approval workflow was evaluated to assess the effectiveness of the moderation mechanism. Most submitted services were approved, indicating that users provided relevant and acceptable listings. This reflects well on the submission interface and guidelines. The review process helps maintain quality and ensures only appropriate services are made visible.</a:t>
            </a:r>
            <a:endParaRPr lang="en-US" altLang="en-US" sz="1600" dirty="0"/>
          </a:p>
          <a:p>
            <a:r>
              <a:rPr lang="en-US" altLang="en-US" sz="1600" b="1" dirty="0"/>
              <a:t>Service Category Distribution</a:t>
            </a:r>
            <a:endParaRPr lang="en-US" altLang="en-US" sz="1600" b="1" dirty="0"/>
          </a:p>
          <a:p>
            <a:r>
              <a:rPr lang="en-US" altLang="en-US" sz="1600" dirty="0"/>
              <a:t>The distribution of service categories shows that some services are more commonly used than others. Educational and household services were the most frequent, indicating key community needs. Other categories like food and cleaning were also present, showing the platform supports a variety of everyday services and is flexible for community use.</a:t>
            </a:r>
            <a:endParaRPr lang="en-US" altLang="en-US" sz="1600" dirty="0"/>
          </a:p>
        </p:txBody>
      </p:sp>
      <p:pic>
        <p:nvPicPr>
          <p:cNvPr id="1296897697" name="Picture 1296897697"/>
          <p:cNvPicPr>
            <a:picLocks noChangeAspect="1" noChangeArrowheads="1"/>
          </p:cNvPicPr>
          <p:nvPr/>
        </p:nvPicPr>
        <p:blipFill>
          <a:blip r:embed="rId1"/>
          <a:srcRect/>
          <a:stretch>
            <a:fillRect/>
          </a:stretch>
        </p:blipFill>
        <p:spPr>
          <a:xfrm>
            <a:off x="152400" y="837565"/>
            <a:ext cx="4366895" cy="2747010"/>
          </a:xfrm>
          <a:prstGeom prst="rect">
            <a:avLst/>
          </a:prstGeom>
        </p:spPr>
      </p:pic>
      <p:pic>
        <p:nvPicPr>
          <p:cNvPr id="1811248772" name="Picture 1811248772"/>
          <p:cNvPicPr>
            <a:picLocks noChangeAspect="1" noChangeArrowheads="1"/>
          </p:cNvPicPr>
          <p:nvPr/>
        </p:nvPicPr>
        <p:blipFill>
          <a:blip r:embed="rId2"/>
          <a:srcRect/>
          <a:stretch>
            <a:fillRect/>
          </a:stretch>
        </p:blipFill>
        <p:spPr>
          <a:xfrm>
            <a:off x="4765040" y="837565"/>
            <a:ext cx="4084320" cy="2569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Key Findings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79167" y="1354839"/>
            <a:ext cx="8838720" cy="4838571"/>
          </a:xfrm>
          <a:prstGeom prst="rect">
            <a:avLst/>
          </a:prstGeom>
          <a:noFill/>
          <a:ln w="9360">
            <a:noFill/>
          </a:ln>
        </p:spPr>
        <p:txBody>
          <a:bodyPr>
            <a:noAutofit/>
          </a:bodyPr>
          <a:lstStyle/>
          <a:p>
            <a:r>
              <a:rPr lang="en-US" altLang="en-US" sz="2000" dirty="0">
                <a:latin typeface="Times New Roman" panose="02020603050405020304" pitchFamily="18" charset="0"/>
                <a:cs typeface="Times New Roman" panose="02020603050405020304" pitchFamily="18" charset="0"/>
              </a:rPr>
              <a:t>•</a:t>
            </a:r>
            <a:r>
              <a:rPr lang="en-US" altLang="en-US" sz="2000" b="1" dirty="0">
                <a:latin typeface="Times New Roman" panose="02020603050405020304" pitchFamily="18" charset="0"/>
                <a:cs typeface="Times New Roman" panose="02020603050405020304" pitchFamily="18" charset="0"/>
              </a:rPr>
              <a:t> </a:t>
            </a:r>
            <a:r>
              <a:rPr lang="en-IN" altLang="en-US" sz="2000" b="1"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Highest Engagement Colony</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Colony 1 shows the highest number of users, services, and views, making it the most active community.</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a:t>
            </a:r>
            <a:r>
              <a:rPr lang="en-US" altLang="en-US" sz="2000" b="1" dirty="0">
                <a:latin typeface="Times New Roman" panose="02020603050405020304" pitchFamily="18" charset="0"/>
                <a:cs typeface="Times New Roman" panose="02020603050405020304" pitchFamily="18" charset="0"/>
              </a:rPr>
              <a:t> </a:t>
            </a:r>
            <a:r>
              <a:rPr lang="en-IN" altLang="en-US" sz="2000" b="1"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Key Activity Drivers</a:t>
            </a:r>
            <a:endParaRPr lang="en-US" altLang="en-US" sz="2000" b="1"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User participation and service postings are major factors influencing overall engagement.</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 </a:t>
            </a:r>
            <a:r>
              <a:rPr lang="en-IN"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Colony Comparison Insight</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Colony 2 performs better than Colony 3, showing moderate but consistent activity levels.</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a:t>
            </a: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Overall Platform Insight</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Higher user involvement leads to increased service usage and better platform engagement across colonies.. </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Conclusion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643" y="1582817"/>
            <a:ext cx="8838720" cy="4838571"/>
          </a:xfrm>
          <a:prstGeom prst="rect">
            <a:avLst/>
          </a:prstGeom>
          <a:noFill/>
          <a:ln w="9360">
            <a:noFill/>
          </a:ln>
        </p:spPr>
        <p:txBody>
          <a:bodyPr>
            <a:noAutofit/>
          </a:bodyPr>
          <a:lstStyle/>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MyColony successfully transforms informal colony communication into a structured, secure, and moderated platform</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Colonies with higher user participation show greater service interaction and engagement</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platform improves reliability, transparency, and ease of access to hyperlocal services</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Demonstrates strong real-world applicability through service discovery, admin monitoring, and community engagement</a:t>
            </a: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Built with scalability in mind — ready to expand across multiple colonies and cities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Ovr>
    <a:masterClrMapping/>
  </p:clrMapOvr>
</p:sld>
</file>

<file path=ppt/tags/tag1.xml><?xml version="1.0" encoding="utf-8"?>
<p:tagLst xmlns:p="http://schemas.openxmlformats.org/presentationml/2006/main">
  <p:tag name="TABLE_ENDDRAG_ORIGIN_RECT" val="679*314"/>
  <p:tag name="TABLE_ENDDRAG_RECT" val="20*79*679*3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2.xml><?xml version="1.0" encoding="utf-8"?>
<ds:datastoreItem xmlns:ds="http://schemas.openxmlformats.org/officeDocument/2006/customXml" ds:itemID="{737ED6F0-5E4C-4CD0-9B68-9C53F925A6F7}">
  <ds:schemaRefs/>
</ds:datastoreItem>
</file>

<file path=customXml/itemProps3.xml><?xml version="1.0" encoding="utf-8"?>
<ds:datastoreItem xmlns:ds="http://schemas.openxmlformats.org/officeDocument/2006/customXml" ds:itemID="{491DF113-39A2-46D5-BFDA-E63300A9ECAB}">
  <ds:schemaRefs/>
</ds:datastoreItem>
</file>

<file path=customXml/itemProps4.xml><?xml version="1.0" encoding="utf-8"?>
<ds:datastoreItem xmlns:ds="http://schemas.openxmlformats.org/officeDocument/2006/customXml" ds:itemID="{4A62A602-78C1-468C-BB25-57CD481DB741}">
  <ds:schemaRefs/>
</ds:datastoreItem>
</file>

<file path=docProps/app.xml><?xml version="1.0" encoding="utf-8"?>
<Properties xmlns="http://schemas.openxmlformats.org/officeDocument/2006/extended-properties" xmlns:vt="http://schemas.openxmlformats.org/officeDocument/2006/docPropsVTypes">
  <TotalTime>0</TotalTime>
  <Words>7642</Words>
  <Application>WPS Presentation</Application>
  <PresentationFormat>On-screen Show (4:3)</PresentationFormat>
  <Paragraphs>282</Paragraphs>
  <Slides>13</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Calibri</vt:lpstr>
      <vt:lpstr>MS PGothic</vt:lpstr>
      <vt:lpstr>Arial</vt:lpstr>
      <vt:lpstr>Times New Roman</vt:lpstr>
      <vt:lpstr>Times New Roman</vt:lpstr>
      <vt:lpstr>Calibri</vt:lpstr>
      <vt:lpstr>Microsoft YaHei</vt:lpstr>
      <vt:lpstr>Arial Unicode MS</vt:lpstr>
      <vt:lpstr>DejaVu Sans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Anurag thakur</cp:lastModifiedBy>
  <cp:revision>2304</cp:revision>
  <dcterms:created xsi:type="dcterms:W3CDTF">2010-04-09T07:36:00Z</dcterms:created>
  <dcterms:modified xsi:type="dcterms:W3CDTF">2026-04-28T17:12:37Z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KSOProductBuildVer">
    <vt:lpwstr>1033-12.1.0.25862</vt:lpwstr>
  </property>
  <property fmtid="{D5CDD505-2E9C-101B-9397-08002B2CF9AE}" pid="15" name="ICV">
    <vt:lpwstr>D3888BB290334F3CA62019E147B16ECA_13</vt:lpwstr>
  </property>
</Properties>
</file>